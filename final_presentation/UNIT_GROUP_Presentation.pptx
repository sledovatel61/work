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16000" y="1016000"/>
            <a:ext cx="2540000" cy="0"/>
          </a:xfrm>
          <a:prstGeom prst="line">
            <a:avLst/>
          </a:prstGeom>
          <a:ln w="19050">
            <a:solidFill>
              <a:srgbClr val="FF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78000" y="825500"/>
            <a:ext cx="889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ИНЖЕНЕРНО-СТРОИТЕЛЬНАЯ ГРУППА ПОЛНОГО ЦИКЛА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13970000" cy="177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latin typeface="Arial Black"/>
              </a:defRPr>
            </a:pPr>
            <a:r>
              <a:rPr sz="9600" b="1">
                <a:solidFill>
                  <a:srgbClr val="E8EDF2"/>
                </a:solidFill>
                <a:latin typeface="Arial Black"/>
              </a:rPr>
              <a:t>UNIT </a:t>
            </a:r>
            <a:r>
              <a:rPr sz="9600" b="1">
                <a:solidFill>
                  <a:srgbClr val="FF6B00"/>
                </a:solidFill>
                <a:latin typeface="Arial Black"/>
              </a:rPr>
              <a:t>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83000"/>
            <a:ext cx="1397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A97A8"/>
                </a:solidFill>
              </a:defRPr>
            </a:pPr>
            <a:r>
              <a:t>Москва · Инжиниринг · Строительство · Мосты и тоннели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572000"/>
            <a:ext cx="1397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8EDF2"/>
                </a:solidFill>
                <a:latin typeface="Arial"/>
              </a:defRPr>
            </a:pPr>
            <a:r>
              <a:t>Полный цикл.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5334000"/>
            <a:ext cx="1397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6B00"/>
                </a:solidFill>
                <a:latin typeface="Arial"/>
              </a:defRPr>
            </a:pPr>
            <a:r>
              <a:t>Одна ответственность.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6159500"/>
            <a:ext cx="1397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8A97A8"/>
                </a:solidFill>
                <a:latin typeface="Arial"/>
              </a:defRPr>
            </a:pPr>
            <a:r>
              <a:t>От фундамента до космоса.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6985000"/>
            <a:ext cx="10160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0">
                <a:solidFill>
                  <a:srgbClr val="8A97A8"/>
                </a:solidFill>
              </a:defRPr>
            </a:pPr>
            <a:r>
              <a:t>Группа из трёх специализированных компаний, объединённых общим EPC-контуром. Проектируем, строим, монтируем инженерные системы и доводим объекты до финишной отделки — под одну юридическую и финансовую ответственность.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1778000"/>
            <a:ext cx="3302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Arial Black"/>
              </a:rPr>
              <a:t>3</a:t>
            </a:r>
            <a:r>
              <a:rPr sz="1800" b="1">
                <a:solidFill>
                  <a:srgbClr val="22D3EE"/>
                </a:solidFill>
                <a:latin typeface="Arial"/>
              </a:rPr>
              <a:t> юрлица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2133600"/>
            <a:ext cx="3302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A97A8"/>
                </a:solidFill>
              </a:defRPr>
            </a:pPr>
            <a:r>
              <a:t>единый EPC-контур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78000"/>
            <a:ext cx="3302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Arial Black"/>
              </a:rPr>
              <a:t>288</a:t>
            </a:r>
            <a:r>
              <a:rPr sz="1800" b="1">
                <a:solidFill>
                  <a:srgbClr val="22D3EE"/>
                </a:solidFill>
                <a:latin typeface="Arial"/>
              </a:rPr>
              <a:t>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33600"/>
            <a:ext cx="3302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A97A8"/>
                </a:solidFill>
              </a:defRPr>
            </a:pPr>
            <a:r>
              <a:t>НКЦ Роскосмос · флагман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1778000"/>
            <a:ext cx="3302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Arial Black"/>
              </a:rPr>
              <a:t>20 000</a:t>
            </a:r>
            <a:r>
              <a:rPr sz="1800" b="1">
                <a:solidFill>
                  <a:srgbClr val="22D3EE"/>
                </a:solidFill>
                <a:latin typeface="Arial"/>
              </a:rPr>
              <a:t> м³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0" y="2133600"/>
            <a:ext cx="3302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A97A8"/>
                </a:solidFill>
              </a:defRPr>
            </a:pPr>
            <a:r>
              <a:t>монолит в водонасыщенных грунтах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4000" y="1778000"/>
            <a:ext cx="3302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00"/>
                </a:solidFill>
                <a:latin typeface="Arial Black"/>
              </a:rP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84000" y="2133600"/>
            <a:ext cx="3302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A97A8"/>
                </a:solidFill>
              </a:defRPr>
            </a:pPr>
            <a:r>
              <a:t>любая геология и климат</a:t>
            </a:r>
          </a:p>
        </p:txBody>
      </p:sp>
      <p:sp>
        <p:nvSpPr>
          <p:cNvPr id="19" name="Oval 18"/>
          <p:cNvSpPr/>
          <p:nvPr/>
        </p:nvSpPr>
        <p:spPr>
          <a:xfrm>
            <a:off x="1016000" y="952500"/>
            <a:ext cx="101600" cy="1016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6500" y="889000"/>
            <a:ext cx="330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878"/>
                </a:solidFill>
                <a:latin typeface="Courier New"/>
              </a:defRPr>
            </a:pPr>
            <a:r>
              <a:t>ООО «ЮНИТ ИНЖИНИРИНГ»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952500"/>
            <a:ext cx="101600" cy="1016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2500" y="889000"/>
            <a:ext cx="330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878"/>
                </a:solidFill>
                <a:latin typeface="Courier New"/>
              </a:defRPr>
            </a:pPr>
            <a:r>
              <a:t>ООО «АММ-СТРОЙ»</a:t>
            </a:r>
          </a:p>
        </p:txBody>
      </p:sp>
      <p:sp>
        <p:nvSpPr>
          <p:cNvPr id="23" name="Oval 22"/>
          <p:cNvSpPr/>
          <p:nvPr/>
        </p:nvSpPr>
        <p:spPr>
          <a:xfrm>
            <a:off x="8128000" y="952500"/>
            <a:ext cx="101600" cy="1016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889000"/>
            <a:ext cx="3302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878"/>
                </a:solidFill>
                <a:latin typeface="Courier New"/>
              </a:defRPr>
            </a:pPr>
            <a:r>
              <a:t>ООО «МОСТЫ И ТОННЕЛИ»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254000"/>
            <a:ext cx="1422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UNIT GROUP · Москва · 2026 · Инженерно-строительная группа полного цикла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635000"/>
            <a:ext cx="1016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СТРУКТУРА ГРУППЫ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206500"/>
            <a:ext cx="139700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DF2"/>
                </a:solidFill>
                <a:latin typeface="Arial"/>
              </a:defRPr>
            </a:pPr>
            <a:r>
              <a:t>Единый контур.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968500"/>
            <a:ext cx="139700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6B00"/>
                </a:solidFill>
                <a:latin typeface="Arial"/>
              </a:defRPr>
            </a:pPr>
            <a:r>
              <a:t>Три уровня экспертизы.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57500"/>
            <a:ext cx="1397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7A8"/>
                </a:solidFill>
              </a:defRPr>
            </a:pPr>
            <a:r>
              <a:t>Каждая компания закрывает свой сегмент. Один договор — и вся цепочка от инженерного проекта до финишной отделки под одной ответственностью.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5080000"/>
            <a:ext cx="14224000" cy="1397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6000" y="5181600"/>
            <a:ext cx="50800" cy="1193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500" y="622300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878"/>
                </a:solidFill>
                <a:latin typeface="Arial Black"/>
              </a:defRPr>
            </a:pPr>
            <a:r>
              <a:t>01</a:t>
            </a:r>
          </a:p>
          <a:p>
            <a:pPr>
              <a:defRPr sz="900" b="1">
                <a:solidFill>
                  <a:srgbClr val="FF6B00"/>
                </a:solidFill>
                <a:latin typeface="Courier New"/>
              </a:defRPr>
            </a:pPr>
            <a:r>
              <a:t>EPC · УПРАВЛЕНИЕ</a:t>
            </a:r>
          </a:p>
          <a:p>
            <a:pPr>
              <a:defRPr sz="2000" b="1">
                <a:solidFill>
                  <a:srgbClr val="E8EDF2"/>
                </a:solidFill>
                <a:latin typeface="Arial"/>
              </a:defRPr>
            </a:pPr>
            <a:r>
              <a:t>ЮНИТ</a:t>
            </a:r>
          </a:p>
          <a:p>
            <a:pPr>
              <a:defRPr sz="2000" b="1">
                <a:solidFill>
                  <a:srgbClr val="E8EDF2"/>
                </a:solidFill>
                <a:latin typeface="Arial"/>
              </a:defRPr>
            </a:pPr>
            <a:r>
              <a:t>ИНЖИНИРИНГ</a:t>
            </a:r>
          </a:p>
          <a:p>
            <a:pPr>
              <a:defRPr sz="1000">
                <a:solidFill>
                  <a:srgbClr val="8A97A8"/>
                </a:solidFill>
              </a:defRPr>
            </a:pPr>
            <a:r>
              <a:t>Головная компания группы · с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6286500"/>
            <a:ext cx="736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F6B00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Проектирование, BIM, сметы, авторский надзор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6B00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Генподряд, техзаказчик, управление строительством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6B00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Комплекс работ на объекте «Национальный космический центр» (НКЦ) — башня 288 м, 47 этажей, 257 000 м², совместный проект Правительства Москвы и Роскосмоса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6B00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Проектирование и строительство «Стрелковый клуб Румянцево»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6B00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Капитальный ремонт автодорожного тоннеля «Новокутузовский ТТК»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0" y="62865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Генеральный директор: </a:t>
            </a:r>
            <a:r>
              <a:rPr sz="900">
                <a:solidFill>
                  <a:srgbClr val="8A97A8"/>
                </a:solidFill>
                <a:latin typeface="Courier New"/>
              </a:rPr>
              <a:t>Махадов Ильян Абдурагимович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ИНН: </a:t>
            </a:r>
            <a:r>
              <a:rPr sz="900">
                <a:solidFill>
                  <a:srgbClr val="8A97A8"/>
                </a:solidFill>
                <a:latin typeface="Courier New"/>
              </a:rPr>
              <a:t>9701308826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ОГРН: </a:t>
            </a:r>
            <a:r>
              <a:rPr sz="900">
                <a:solidFill>
                  <a:srgbClr val="8A97A8"/>
                </a:solidFill>
                <a:latin typeface="Courier New"/>
              </a:rPr>
              <a:t>1257700109072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8A97A8"/>
                </a:solidFill>
                <a:latin typeface="Courier New"/>
              </a:rPr>
              <a:t>105082, Москва, ул. Б. Почтовая, 26В, стр. 1, пом. 1/3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Тел.: </a:t>
            </a:r>
            <a:r>
              <a:rPr sz="900">
                <a:solidFill>
                  <a:srgbClr val="8A97A8"/>
                </a:solidFill>
                <a:latin typeface="Courier New"/>
              </a:rPr>
              <a:t>+7 915 186-66-11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Тел.: </a:t>
            </a:r>
            <a:r>
              <a:rPr sz="900">
                <a:solidFill>
                  <a:srgbClr val="8A97A8"/>
                </a:solidFill>
                <a:latin typeface="Courier New"/>
              </a:rPr>
              <a:t>+7 916 839-40-20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E-mail: </a:t>
            </a:r>
            <a:r>
              <a:rPr sz="900">
                <a:solidFill>
                  <a:srgbClr val="8A97A8"/>
                </a:solidFill>
                <a:latin typeface="Courier New"/>
              </a:rPr>
              <a:t>ooo-unit@list.ru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3683000"/>
            <a:ext cx="14224000" cy="1397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3784600"/>
            <a:ext cx="50800" cy="1193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6500" y="482600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878"/>
                </a:solidFill>
                <a:latin typeface="Arial Black"/>
              </a:defRPr>
            </a:pPr>
            <a:r>
              <a:t>02</a:t>
            </a:r>
          </a:p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ОПЕРАЦИОННЫЙ КОНТУР</a:t>
            </a:r>
          </a:p>
          <a:p>
            <a:pPr>
              <a:defRPr sz="2000" b="1">
                <a:solidFill>
                  <a:srgbClr val="E8EDF2"/>
                </a:solidFill>
                <a:latin typeface="Arial"/>
              </a:defRPr>
            </a:pPr>
            <a:r>
              <a:t>АММ</a:t>
            </a:r>
          </a:p>
          <a:p>
            <a:pPr>
              <a:defRPr sz="2000" b="1">
                <a:solidFill>
                  <a:srgbClr val="E8EDF2"/>
                </a:solidFill>
                <a:latin typeface="Arial"/>
              </a:defRPr>
            </a:pPr>
            <a:r>
              <a:t>СТРОЙ</a:t>
            </a:r>
          </a:p>
          <a:p>
            <a:pPr>
              <a:defRPr sz="1000">
                <a:solidFill>
                  <a:srgbClr val="8A97A8"/>
                </a:solidFill>
              </a:defRPr>
            </a:pPr>
            <a:r>
              <a:t>Создана 04.05.2026 · команда и портфель AIVA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4889500"/>
            <a:ext cx="736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2D3EE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Демонтаж и алмазная резка ж/б любой сложности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2D3EE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Черновые работы: стяжка, штукатурка, кладка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2D3EE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Отделка под ключ: шпатлевка, покраска, керамогранит, паркет, ламинат, гипсокартон, лепнина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2D3EE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Столярные работы: двери, МДФ-плинтусы, доборы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2D3EE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Сантехника, электрика, ОВиК, кондиционирование — полный цикл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8000" y="48895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Генеральный директор: </a:t>
            </a:r>
            <a:r>
              <a:rPr sz="900">
                <a:solidFill>
                  <a:srgbClr val="8A97A8"/>
                </a:solidFill>
                <a:latin typeface="Courier New"/>
              </a:rPr>
              <a:t>Михеев Михаил Вахитович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ИНН: </a:t>
            </a:r>
            <a:r>
              <a:rPr sz="900">
                <a:solidFill>
                  <a:srgbClr val="8A97A8"/>
                </a:solidFill>
                <a:latin typeface="Courier New"/>
              </a:rPr>
              <a:t>9729419389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ОГРН: </a:t>
            </a:r>
            <a:r>
              <a:rPr sz="900">
                <a:solidFill>
                  <a:srgbClr val="8A97A8"/>
                </a:solidFill>
                <a:latin typeface="Courier New"/>
              </a:rPr>
              <a:t>1267700156052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8A97A8"/>
                </a:solidFill>
                <a:latin typeface="Courier New"/>
              </a:rPr>
              <a:t>117393, Москва, ул. Архитектора Власова, 55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E-mail: </a:t>
            </a:r>
            <a:r>
              <a:rPr sz="900">
                <a:solidFill>
                  <a:srgbClr val="8A97A8"/>
                </a:solidFill>
                <a:latin typeface="Courier New"/>
              </a:rPr>
              <a:t>mikheev.mikhail13@mail.ru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6000" y="2286000"/>
            <a:ext cx="14224000" cy="1397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6000" y="2387600"/>
            <a:ext cx="50800" cy="1193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" y="3429000"/>
            <a:ext cx="304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878"/>
                </a:solidFill>
                <a:latin typeface="Arial Black"/>
              </a:defRPr>
            </a:pPr>
            <a:r>
              <a:t>03</a:t>
            </a:r>
          </a:p>
          <a:p>
            <a:pPr>
              <a:defRPr sz="900" b="1">
                <a:solidFill>
                  <a:srgbClr val="D4AF37"/>
                </a:solidFill>
                <a:latin typeface="Courier New"/>
              </a:defRPr>
            </a:pPr>
            <a:r>
              <a:t>СПЕЦКОНТУР · 10+ ЛЕТ</a:t>
            </a:r>
          </a:p>
          <a:p>
            <a:pPr>
              <a:defRPr sz="2000" b="1">
                <a:solidFill>
                  <a:srgbClr val="E8EDF2"/>
                </a:solidFill>
                <a:latin typeface="Arial"/>
              </a:defRPr>
            </a:pPr>
            <a:r>
              <a:t>МОСТЫ</a:t>
            </a:r>
          </a:p>
          <a:p>
            <a:pPr>
              <a:defRPr sz="2000" b="1">
                <a:solidFill>
                  <a:srgbClr val="E8EDF2"/>
                </a:solidFill>
                <a:latin typeface="Arial"/>
              </a:defRPr>
            </a:pPr>
            <a:r>
              <a:t>И ТОННЕЛИ</a:t>
            </a:r>
          </a:p>
          <a:p>
            <a:pPr>
              <a:defRPr sz="1000">
                <a:solidFill>
                  <a:srgbClr val="8A97A8"/>
                </a:solidFill>
              </a:defRPr>
            </a:pPr>
            <a:r>
              <a:t>Собственный парк Casagrande · Hilti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3492500"/>
            <a:ext cx="7366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Мосты, тоннели, метрополитен, ИССО — полный цикл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Буровые работы: БНС, БСС, БКС, «стена в грунте» — Ø620–1200 мм, до 10 группы грунтов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Монолитное строительство: армирование, опалубка, бетонирование, маркшейдерия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Гидроизоляция полного цикла (наплавляемая 2-4 слоя, металлоизоляция, инъектирование)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ourier New"/>
              </a:rPr>
              <a:t>+ </a:t>
            </a:r>
            <a:r>
              <a:rPr sz="1100">
                <a:solidFill>
                  <a:srgbClr val="E8EDF2"/>
                </a:solidFill>
              </a:rPr>
              <a:t>Работа 24/7, любые климатические условия, высокая мобильность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38000" y="3492500"/>
            <a:ext cx="330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Генеральный директор: </a:t>
            </a:r>
            <a:r>
              <a:rPr sz="900">
                <a:solidFill>
                  <a:srgbClr val="8A97A8"/>
                </a:solidFill>
                <a:latin typeface="Courier New"/>
              </a:rPr>
              <a:t>Хидешели Леван Иванович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ИНН: </a:t>
            </a:r>
            <a:r>
              <a:rPr sz="900">
                <a:solidFill>
                  <a:srgbClr val="8A97A8"/>
                </a:solidFill>
                <a:latin typeface="Courier New"/>
              </a:rPr>
              <a:t>5001107429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ОГРН: </a:t>
            </a:r>
            <a:r>
              <a:rPr sz="900">
                <a:solidFill>
                  <a:srgbClr val="8A97A8"/>
                </a:solidFill>
                <a:latin typeface="Courier New"/>
              </a:rPr>
              <a:t>1165001050785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8A97A8"/>
                </a:solidFill>
                <a:latin typeface="Courier New"/>
              </a:rPr>
              <a:t>140014, МО, г. Люберцы, ул. Электрификации, 3, стр. 3, оф. 12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Тел.: </a:t>
            </a:r>
            <a:r>
              <a:rPr sz="900">
                <a:solidFill>
                  <a:srgbClr val="8A97A8"/>
                </a:solidFill>
                <a:latin typeface="Courier New"/>
              </a:rPr>
              <a:t>+7 499 148-63-83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E-mail: </a:t>
            </a:r>
            <a:r>
              <a:rPr sz="900">
                <a:solidFill>
                  <a:srgbClr val="8A97A8"/>
                </a:solidFill>
                <a:latin typeface="Courier New"/>
              </a:rPr>
              <a:t>info@ooomit.com</a:t>
            </a:r>
          </a:p>
          <a:p>
            <a:pPr>
              <a:spcAft>
                <a:spcPts val="100"/>
              </a:spcAft>
            </a:pPr>
            <a:r>
              <a:rPr sz="800">
                <a:solidFill>
                  <a:srgbClr val="5A6878"/>
                </a:solidFill>
                <a:latin typeface="Courier New"/>
              </a:rPr>
              <a:t>Сайт: </a:t>
            </a:r>
            <a:r>
              <a:rPr sz="900">
                <a:solidFill>
                  <a:srgbClr val="8A97A8"/>
                </a:solidFill>
                <a:latin typeface="Courier New"/>
              </a:rPr>
              <a:t>ooomit.com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6000" y="254000"/>
            <a:ext cx="14224000" cy="635000"/>
          </a:xfrm>
          <a:prstGeom prst="rect">
            <a:avLst/>
          </a:prstGeom>
          <a:solidFill>
            <a:srgbClr val="0A0E14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000" y="355600"/>
            <a:ext cx="142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8EDF2"/>
                </a:solidFill>
                <a:latin typeface="Courier New"/>
              </a:rPr>
              <a:t>ОДИН ТЕНДЕР   →   ОДИН ДОГОВОР   →   ОДНА ОТВЕТСТВЕННОСТЬ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635000"/>
            <a:ext cx="1016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ПОЛНЫЙ ЦИКЛ · ОТ КОТЛОВАНА ДО ФИНИША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206500"/>
            <a:ext cx="139700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8EDF2"/>
                </a:solidFill>
                <a:latin typeface="Arial"/>
              </a:defRPr>
            </a:pPr>
            <a:r>
              <a:t>Что закрываем.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968500"/>
            <a:ext cx="139700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6B00"/>
                </a:solidFill>
                <a:latin typeface="Arial"/>
              </a:defRPr>
            </a:pPr>
            <a:r>
              <a:t>Без стыков. Без субподрядчиков.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57500"/>
            <a:ext cx="14224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A97A8"/>
                </a:solidFill>
              </a:defRPr>
            </a:pPr>
            <a:r>
              <a:t>Шесть направлений, которые в обычной связке раздают 3-5 подрядчикам. У нас — одна команда, одна ответственность, одна смета.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683000"/>
            <a:ext cx="4639733" cy="2921000"/>
          </a:xfrm>
          <a:prstGeom prst="rect">
            <a:avLst/>
          </a:prstGeom>
          <a:solidFill>
            <a:srgbClr val="0E1B2E"/>
          </a:solidFill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3733" y="3873500"/>
            <a:ext cx="698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878"/>
                </a:solidFill>
                <a:latin typeface="Courier New"/>
              </a:defRPr>
            </a:pPr>
            <a:r>
              <a:t>01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1270000" y="4191000"/>
            <a:ext cx="457200" cy="457200"/>
          </a:xfrm>
          <a:prstGeom prst="rect">
            <a:avLst/>
          </a:prstGeom>
          <a:noFill/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0000" y="4254500"/>
            <a:ext cx="4572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4191000"/>
            <a:ext cx="3496733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Проектирование</a:t>
            </a:r>
            <a:br/>
            <a:r>
              <a:t>и EPC-управление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5080000"/>
            <a:ext cx="4131733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Проектная и рабочая документация, BIM-моделирование, сметы, авторский надзор. Генподряд и техзаказчик. Флагманский кейс — комплекс работ на НКЦ.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6223000"/>
            <a:ext cx="413173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Courier New"/>
              </a:defRPr>
            </a:pPr>
            <a:r>
              <a:t>257 000 м² · НКЦ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8200" y="3683000"/>
            <a:ext cx="4639733" cy="292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5933" y="3873500"/>
            <a:ext cx="698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878"/>
                </a:solidFill>
                <a:latin typeface="Courier New"/>
              </a:defRPr>
            </a:pPr>
            <a:r>
              <a:t>02 / 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2200" y="4191000"/>
            <a:ext cx="457200" cy="457200"/>
          </a:xfrm>
          <a:prstGeom prst="rect">
            <a:avLst/>
          </a:pr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2200" y="4254500"/>
            <a:ext cx="4572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Arial Black"/>
              </a:defRPr>
            </a:pPr>
            <a:r>
              <a:t>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7200" y="4191000"/>
            <a:ext cx="3496733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Монолит и подземные конструкции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2200" y="5080000"/>
            <a:ext cx="4131733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Армирование, монтаж опалубки, бетонирование, геодезия и маркшейдерия. Работаем в водонасыщенных грунтах, напорные горизонты.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2200" y="6223000"/>
            <a:ext cx="413173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20 000 м³ · ст. «Кленовый бульвар»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0400" y="3683000"/>
            <a:ext cx="4639733" cy="292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58133" y="3873500"/>
            <a:ext cx="698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878"/>
                </a:solidFill>
                <a:latin typeface="Courier New"/>
              </a:defRPr>
            </a:pPr>
            <a:r>
              <a:t>03 / 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4400" y="4191000"/>
            <a:ext cx="457200" cy="457200"/>
          </a:xfrm>
          <a:prstGeom prst="rect">
            <a:avLst/>
          </a:prstGeom>
          <a:noFill/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400" y="4254500"/>
            <a:ext cx="4572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9400" y="4191000"/>
            <a:ext cx="3496733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Мосты · тоннели · метро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0" y="5080000"/>
            <a:ext cx="4131733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Станции метро «Говорово», «Кленовый бульвар», «Столбово», вестибюль «Академической» (Троицкая линия). Автодорожный тоннель Видное. ТТК Новокутузовский.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0" y="6223000"/>
            <a:ext cx="413173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Courier New"/>
              </a:defRPr>
            </a:pPr>
            <a:r>
              <a:t>4 станции метро · 2 тоннеля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6000" y="6026150"/>
            <a:ext cx="4639733" cy="292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3733" y="6216650"/>
            <a:ext cx="698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878"/>
                </a:solidFill>
                <a:latin typeface="Courier New"/>
              </a:defRPr>
            </a:pPr>
            <a:r>
              <a:t>04 / 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0000" y="6534150"/>
            <a:ext cx="457200" cy="45720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0000" y="6597650"/>
            <a:ext cx="4572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rial Black"/>
              </a:defRPr>
            </a:pPr>
            <a: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5000" y="6534150"/>
            <a:ext cx="3496733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Буровые работы и спецоснования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0000" y="7423150"/>
            <a:ext cx="4131733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БНС Ø1000–1200 мм, БСС, БКС, «стена в грунте». Собственные буровые машины Casagrande. Статические испытания свай до 1000 тн. Канатная резка Hilti.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0000" y="8566150"/>
            <a:ext cx="413173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Courier New"/>
              </a:defRPr>
            </a:pPr>
            <a:r>
              <a:t>291 БКС · 1000 тн испытания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8200" y="6026150"/>
            <a:ext cx="4639733" cy="292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5933" y="6216650"/>
            <a:ext cx="698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878"/>
                </a:solidFill>
                <a:latin typeface="Courier New"/>
              </a:defRPr>
            </a:pPr>
            <a:r>
              <a:t>05 / 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2200" y="6534150"/>
            <a:ext cx="457200" cy="457200"/>
          </a:xfrm>
          <a:prstGeom prst="rect">
            <a:avLst/>
          </a:pr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2200" y="6597650"/>
            <a:ext cx="4572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Arial Black"/>
              </a:defRPr>
            </a:pPr>
            <a:r>
              <a:t>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7200" y="6534150"/>
            <a:ext cx="3496733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Инженерные системы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2200" y="7423150"/>
            <a:ext cx="4131733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Кондиционирование, вентиляция, отопление, водоснабжение, водоотведение, газоснабжение, электрика полный цикл. Собственные бригады, никакой аренды.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2200" y="8566150"/>
            <a:ext cx="413173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7 направлений · 24/7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0400" y="6026150"/>
            <a:ext cx="4639733" cy="292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58133" y="6216650"/>
            <a:ext cx="6985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878"/>
                </a:solidFill>
                <a:latin typeface="Courier New"/>
              </a:defRPr>
            </a:pPr>
            <a:r>
              <a:t>06 / 06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34400" y="6534150"/>
            <a:ext cx="457200" cy="457200"/>
          </a:xfrm>
          <a:prstGeom prst="rect">
            <a:avLst/>
          </a:prstGeom>
          <a:noFill/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4400" y="6597650"/>
            <a:ext cx="4572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9400" y="6534150"/>
            <a:ext cx="3496733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Отделка и финиш «под ключ»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4400" y="7423150"/>
            <a:ext cx="4131733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Демонтаж + алмазная резка → стяжка, штукатурка, кладка → керамогранит, паркет, ламинат, гипсокартон, лепнина → двери, МДФ-плинтусы. Сантехника и свет — финал.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4400" y="8566150"/>
            <a:ext cx="4131733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Courier New"/>
              </a:defRPr>
            </a:pPr>
            <a:r>
              <a:t>AIVA → АММ-СТРОЙ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000" y="635000"/>
            <a:ext cx="14224000" cy="44450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6000" y="635000"/>
            <a:ext cx="50800" cy="444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70000" y="762000"/>
            <a:ext cx="1397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DF2"/>
                </a:solidFill>
              </a:rPr>
              <a:t>От </a:t>
            </a:r>
            <a:r>
              <a:rPr sz="1200" b="1">
                <a:solidFill>
                  <a:srgbClr val="FF6B00"/>
                </a:solidFill>
              </a:rPr>
              <a:t>291 БКС</a:t>
            </a:r>
            <a:r>
              <a:rPr sz="1200" b="0">
                <a:solidFill>
                  <a:srgbClr val="E8EDF2"/>
                </a:solidFill>
              </a:rPr>
              <a:t> в котловане до </a:t>
            </a:r>
            <a:r>
              <a:rPr sz="1200" b="1">
                <a:solidFill>
                  <a:srgbClr val="FF6B00"/>
                </a:solidFill>
              </a:rPr>
              <a:t>башни 288 м</a:t>
            </a:r>
            <a:r>
              <a:rPr sz="1200" b="0">
                <a:solidFill>
                  <a:srgbClr val="E8EDF2"/>
                </a:solidFill>
              </a:rPr>
              <a:t> — один стандарт качества. Мобильность: развёртывание участка — </a:t>
            </a:r>
            <a:r>
              <a:rPr sz="1200" b="1">
                <a:solidFill>
                  <a:srgbClr val="FF6B00"/>
                </a:solidFill>
              </a:rPr>
              <a:t>от 3 дней</a:t>
            </a:r>
            <a:r>
              <a:rPr sz="1200" b="0">
                <a:solidFill>
                  <a:srgbClr val="E8EDF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635000"/>
            <a:ext cx="1016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ПРОЕКТЫ-ДОКАЗАТЕЛЬСТВА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206500"/>
            <a:ext cx="88900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8EDF2"/>
                </a:solidFill>
                <a:latin typeface="Arial"/>
              </a:defRPr>
            </a:pPr>
            <a:r>
              <a:t>Там, где нас уже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968500"/>
            <a:ext cx="13970000" cy="698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6B00"/>
                </a:solidFill>
                <a:latin typeface="Arial"/>
              </a:defRPr>
            </a:pPr>
            <a:r>
              <a:t>проверили.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57500"/>
            <a:ext cx="14224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A97A8"/>
                </a:solidFill>
              </a:defRPr>
            </a:pPr>
            <a:r>
              <a:t>Не стоковые фотографии — реальные объекты Роскосмоса, Московского метрополитена, ЦАО и крупнейших девелоперов столицы.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937000"/>
            <a:ext cx="6096000" cy="3556000"/>
          </a:xfrm>
          <a:prstGeom prst="rect">
            <a:avLst/>
          </a:prstGeom>
          <a:solidFill>
            <a:srgbClr val="0E1B2E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3492780"/>
            <a:ext cx="508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ourier New"/>
              </a:defRPr>
            </a:pPr>
            <a:r>
              <a:t>◤ ФЛАГМАН · КОСМОС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857780"/>
            <a:ext cx="5461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8EDF2"/>
                </a:solidFill>
                <a:latin typeface="Arial"/>
              </a:defRPr>
            </a:pPr>
            <a:r>
              <a:t>Национальный космический центр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445000"/>
            <a:ext cx="5461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A97A8"/>
                </a:solidFill>
              </a:defRPr>
            </a:pPr>
            <a:r>
              <a:t>Комплекс работ на объекте совместного проекта Правительства Москвы и госкорпорации «Роскосмос». Башня-«ракета» с тригранным силуэтом — главный архитектурный объект столицы. Открыт 13.09.2025.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127500"/>
            <a:ext cx="1693333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 Black"/>
              </a:defRPr>
            </a:pPr>
            <a:r>
              <a:t>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483100"/>
            <a:ext cx="1693333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м / 47 эт.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3833" y="4127500"/>
            <a:ext cx="1693333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 Black"/>
              </a:defRPr>
            </a:pPr>
            <a:r>
              <a:t>257к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3833" y="4483100"/>
            <a:ext cx="1693333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м² площадь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166" y="4127500"/>
            <a:ext cx="1693333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00"/>
                </a:solidFill>
                <a:latin typeface="Arial Black"/>
              </a:defRPr>
            </a:pPr>
            <a:r>
              <a:t>20к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166" y="4483100"/>
            <a:ext cx="1693333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рабочих мест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6000" y="3937000"/>
            <a:ext cx="3683000" cy="165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4600" y="3581530"/>
            <a:ext cx="3302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◤ МЕТРО · БКЛ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4600" y="3175130"/>
            <a:ext cx="330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Станция «Кленовый бульвар»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4600" y="2667130"/>
            <a:ext cx="3302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97A8"/>
                </a:solidFill>
              </a:defRPr>
            </a:pPr>
            <a:r>
              <a:t>Сооружение основных конструкций в условиях водонасыщенных грунтов, река в 50 м. Рекордный котлован 644 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4600" y="4127500"/>
            <a:ext cx="330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20к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4203700"/>
            <a:ext cx="254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м³ монолита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03000" y="3937000"/>
            <a:ext cx="3683000" cy="165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31600" y="3581530"/>
            <a:ext cx="3302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◤ МЕТРО · ТРОИЦКАЯ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31600" y="3175130"/>
            <a:ext cx="330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Вестибюль №1 ст. «Академическая»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31600" y="2667130"/>
            <a:ext cx="3302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97A8"/>
                </a:solidFill>
              </a:defRPr>
            </a:pPr>
            <a:r>
              <a:t>Возведение основных и внутренних конструкций. Открытие участка «ЗИЛ — Новаторская» — 13.09.2025.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31600" y="4127500"/>
            <a:ext cx="330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93600" y="4203700"/>
            <a:ext cx="254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станций Троицкой линии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6000" y="5842000"/>
            <a:ext cx="3683000" cy="165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4600" y="5486530"/>
            <a:ext cx="3302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◤ ТРАНСПОРТ · ГЧП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4600" y="5080130"/>
            <a:ext cx="330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Автодорожный тоннель в г. Видное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4600" y="4572130"/>
            <a:ext cx="3302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97A8"/>
                </a:solidFill>
              </a:defRPr>
            </a:pPr>
            <a:r>
              <a:t>Секция 7 в составе трассы «ЮЛА» — концессия стоимостью 86,7 млрд ₽.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4600" y="6032500"/>
            <a:ext cx="330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300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600" y="6108700"/>
            <a:ext cx="254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м тоннель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303000" y="5842000"/>
            <a:ext cx="3683000" cy="1651000"/>
          </a:xfrm>
          <a:prstGeom prst="rect">
            <a:avLst/>
          </a:prstGeom>
          <a:solidFill>
            <a:srgbClr val="16263C"/>
          </a:solidFill>
          <a:ln w="6350">
            <a:solidFill>
              <a:srgbClr val="1F3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31600" y="5486530"/>
            <a:ext cx="3302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◤ ДЕВЕЛОПМЕНТ · ТПУ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31600" y="5080130"/>
            <a:ext cx="330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EDF2"/>
                </a:solidFill>
                <a:latin typeface="Arial"/>
              </a:defRPr>
            </a:pPr>
            <a:r>
              <a:t>МФЖК «Мичуринский проспект»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1600" y="4572130"/>
            <a:ext cx="3302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97A8"/>
                </a:solidFill>
              </a:defRPr>
            </a:pPr>
            <a:r>
              <a:t>Свайное основание Башни А. Статические испытания нагрузкой 1000 тн.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31600" y="6032500"/>
            <a:ext cx="3302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00"/>
                </a:solidFill>
                <a:latin typeface="Arial Black"/>
              </a:defRPr>
            </a:pPr>
            <a:r>
              <a:t>1000т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93600" y="6108700"/>
            <a:ext cx="2540000" cy="165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878"/>
                </a:solidFill>
                <a:latin typeface="Courier New"/>
              </a:defRPr>
            </a:pPr>
            <a:r>
              <a:t>испытания свай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16000" y="1079500"/>
            <a:ext cx="14224000" cy="0"/>
          </a:xfrm>
          <a:prstGeom prst="line">
            <a:avLst/>
          </a:prstGeom>
          <a:ln w="6350">
            <a:solidFill>
              <a:srgbClr val="1F3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16000" y="1041400"/>
            <a:ext cx="88900" cy="889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6500" y="9525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00"/>
                </a:solidFill>
                <a:latin typeface="Arial Black"/>
              </a:rPr>
              <a:t>12+ </a:t>
            </a:r>
            <a:r>
              <a:rPr sz="1100">
                <a:solidFill>
                  <a:srgbClr val="8A97A8"/>
                </a:solidFill>
              </a:rPr>
              <a:t>знаковых объектов</a:t>
            </a:r>
          </a:p>
        </p:txBody>
      </p:sp>
      <p:sp>
        <p:nvSpPr>
          <p:cNvPr id="44" name="Oval 43"/>
          <p:cNvSpPr/>
          <p:nvPr/>
        </p:nvSpPr>
        <p:spPr>
          <a:xfrm>
            <a:off x="3873500" y="1041400"/>
            <a:ext cx="88900" cy="889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4000" y="9525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00"/>
                </a:solidFill>
                <a:latin typeface="Arial Black"/>
              </a:rPr>
              <a:t>2 </a:t>
            </a:r>
            <a:r>
              <a:rPr sz="1100">
                <a:solidFill>
                  <a:srgbClr val="8A97A8"/>
                </a:solidFill>
              </a:rPr>
              <a:t>линии метро</a:t>
            </a:r>
          </a:p>
        </p:txBody>
      </p:sp>
      <p:sp>
        <p:nvSpPr>
          <p:cNvPr id="46" name="Oval 45"/>
          <p:cNvSpPr/>
          <p:nvPr/>
        </p:nvSpPr>
        <p:spPr>
          <a:xfrm>
            <a:off x="6731000" y="1041400"/>
            <a:ext cx="88900" cy="889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21500" y="9525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00"/>
                </a:solidFill>
                <a:latin typeface="Arial Black"/>
              </a:rPr>
              <a:t>3 </a:t>
            </a:r>
            <a:r>
              <a:rPr sz="1100">
                <a:solidFill>
                  <a:srgbClr val="8A97A8"/>
                </a:solidFill>
              </a:rPr>
              <a:t>тоннеля</a:t>
            </a:r>
          </a:p>
        </p:txBody>
      </p:sp>
      <p:sp>
        <p:nvSpPr>
          <p:cNvPr id="48" name="Oval 47"/>
          <p:cNvSpPr/>
          <p:nvPr/>
        </p:nvSpPr>
        <p:spPr>
          <a:xfrm>
            <a:off x="9588500" y="1041400"/>
            <a:ext cx="88900" cy="889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79000" y="9525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00"/>
                </a:solidFill>
                <a:latin typeface="Arial Black"/>
              </a:rPr>
              <a:t>1 </a:t>
            </a:r>
            <a:r>
              <a:rPr sz="1100">
                <a:solidFill>
                  <a:srgbClr val="8A97A8"/>
                </a:solidFill>
              </a:rPr>
              <a:t>объект Роскосмоса</a:t>
            </a:r>
          </a:p>
        </p:txBody>
      </p:sp>
      <p:sp>
        <p:nvSpPr>
          <p:cNvPr id="50" name="Oval 49"/>
          <p:cNvSpPr/>
          <p:nvPr/>
        </p:nvSpPr>
        <p:spPr>
          <a:xfrm>
            <a:off x="12446000" y="1041400"/>
            <a:ext cx="88900" cy="889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636500" y="9525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6B00"/>
                </a:solidFill>
                <a:latin typeface="Arial Black"/>
              </a:rPr>
              <a:t>10+ </a:t>
            </a:r>
            <a:r>
              <a:rPr sz="1100">
                <a:solidFill>
                  <a:srgbClr val="8A97A8"/>
                </a:solidFill>
              </a:rPr>
              <a:t>лет практики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16000"/>
            <a:ext cx="13970000" cy="825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E8EDF2"/>
                </a:solidFill>
                <a:latin typeface="Arial"/>
              </a:defRPr>
            </a:pPr>
            <a:r>
              <a:t>Снимите риски.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032000"/>
            <a:ext cx="13970000" cy="825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6B00"/>
                </a:solidFill>
                <a:latin typeface="Arial"/>
              </a:defRPr>
            </a:pPr>
            <a:r>
              <a:t>Дайте площадку.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111500"/>
            <a:ext cx="1397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A97A8"/>
                </a:solidFill>
              </a:defRPr>
            </a:pPr>
            <a:r>
              <a:t>Один тендер → один договор → одна юридическая и финансовая ответственность. Собственная техника, мобильность, выход на объект от 3 дней.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4191000"/>
            <a:ext cx="4826000" cy="762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318000"/>
            <a:ext cx="4826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A0E14"/>
                </a:solidFill>
                <a:latin typeface="Arial Black"/>
              </a:rPr>
              <a:t>Готовы к диалогу 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88000" y="5334000"/>
            <a:ext cx="0" cy="2794000"/>
          </a:xfrm>
          <a:prstGeom prst="line">
            <a:avLst/>
          </a:prstGeom>
          <a:ln w="6350">
            <a:solidFill>
              <a:srgbClr val="1F3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20800" y="5334000"/>
            <a:ext cx="4191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ourier New"/>
              </a:defRPr>
            </a:pPr>
            <a:r>
              <a:t>◤ EPC · ГОЛОВНАЯ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800" y="5715000"/>
            <a:ext cx="4191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EDF2"/>
                </a:solidFill>
                <a:latin typeface="Arial"/>
              </a:defRPr>
            </a:pPr>
            <a:r>
              <a:t>ООО «ЮНИТ</a:t>
            </a:r>
          </a:p>
          <a:p>
            <a:pPr>
              <a:defRPr sz="1600" b="1">
                <a:solidFill>
                  <a:srgbClr val="E8EDF2"/>
                </a:solidFill>
                <a:latin typeface="Arial"/>
              </a:defRPr>
            </a:pPr>
            <a:r>
              <a:t>ИНЖИНИРИНГ»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0800" y="6413500"/>
            <a:ext cx="4191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Генеральный директор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6667500"/>
            <a:ext cx="4191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DF2"/>
                </a:solidFill>
                <a:latin typeface="Arial"/>
              </a:defRPr>
            </a:pPr>
            <a:r>
              <a:t>Махадов Ильян Абдурагимович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0800" y="69596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105082, Москва, ул. Большая Почтовая, д. 26В, стр. 1, пом. 1/3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" y="7429500"/>
            <a:ext cx="419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6B00"/>
                </a:solidFill>
                <a:latin typeface="Courier New"/>
              </a:defRPr>
            </a:pPr>
            <a:r>
              <a:t>+7 915 186-66-11</a:t>
            </a:r>
          </a:p>
          <a:p>
            <a:pPr>
              <a:defRPr sz="1100">
                <a:solidFill>
                  <a:srgbClr val="FF6B00"/>
                </a:solidFill>
                <a:latin typeface="Courier New"/>
              </a:defRPr>
            </a:pPr>
            <a:r>
              <a:t>+7 916 839-40-20</a:t>
            </a:r>
          </a:p>
          <a:p>
            <a:pPr>
              <a:defRPr sz="1100">
                <a:solidFill>
                  <a:srgbClr val="FF6B00"/>
                </a:solidFill>
                <a:latin typeface="Courier New"/>
              </a:defRPr>
            </a:pPr>
            <a:r>
              <a:t>ooo-unit@list.ru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0800" y="8318500"/>
            <a:ext cx="419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ИНН 9701308826</a:t>
            </a:r>
          </a:p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ОГРН 1257700109072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14000" y="5334000"/>
            <a:ext cx="0" cy="2794000"/>
          </a:xfrm>
          <a:prstGeom prst="line">
            <a:avLst/>
          </a:prstGeom>
          <a:ln w="6350">
            <a:solidFill>
              <a:srgbClr val="1F3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46800" y="5334000"/>
            <a:ext cx="4191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◤ ОПЕРАЦИОННЫЙ КОНТУР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800" y="5715000"/>
            <a:ext cx="4191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EDF2"/>
                </a:solidFill>
                <a:latin typeface="Arial"/>
              </a:defRPr>
            </a:pPr>
            <a:r>
              <a:t>ООО «АММ</a:t>
            </a:r>
          </a:p>
          <a:p>
            <a:pPr>
              <a:defRPr sz="1600" b="1">
                <a:solidFill>
                  <a:srgbClr val="E8EDF2"/>
                </a:solidFill>
                <a:latin typeface="Arial"/>
              </a:defRPr>
            </a:pPr>
            <a:r>
              <a:t>СТРОЙ»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6800" y="6413500"/>
            <a:ext cx="4191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Генеральный директор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6800" y="6667500"/>
            <a:ext cx="4191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DF2"/>
                </a:solidFill>
                <a:latin typeface="Arial"/>
              </a:defRPr>
            </a:pPr>
            <a:r>
              <a:t>Михеев Михаил Вахитович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6800" y="69596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117393, Москва, ул. Архитектора Власова, д. 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6800" y="7429500"/>
            <a:ext cx="419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22D3EE"/>
                </a:solidFill>
                <a:latin typeface="Courier New"/>
              </a:defRPr>
            </a:pPr>
            <a:r>
              <a:t>mikheev.mikhail13@mail.ru</a:t>
            </a:r>
          </a:p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Создана 04.05.2026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6800" y="8318500"/>
            <a:ext cx="419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ИНН 9729419389</a:t>
            </a:r>
          </a:p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ОГРН 1267700156052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5334000"/>
            <a:ext cx="4191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ourier New"/>
              </a:defRPr>
            </a:pPr>
            <a:r>
              <a:t>◤ СПЕЦКОНТУР · 10+ ЛЕТ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5715000"/>
            <a:ext cx="4191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EDF2"/>
                </a:solidFill>
                <a:latin typeface="Arial"/>
              </a:defRPr>
            </a:pPr>
            <a:r>
              <a:t>ООО «МОСТЫ</a:t>
            </a:r>
          </a:p>
          <a:p>
            <a:pPr>
              <a:defRPr sz="1600" b="1">
                <a:solidFill>
                  <a:srgbClr val="E8EDF2"/>
                </a:solidFill>
                <a:latin typeface="Arial"/>
              </a:defRPr>
            </a:pPr>
            <a:r>
              <a:t>И ТОННЕЛИ»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3500"/>
            <a:ext cx="4191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Генеральный директор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667500"/>
            <a:ext cx="4191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EDF2"/>
                </a:solidFill>
                <a:latin typeface="Arial"/>
              </a:defRPr>
            </a:pPr>
            <a:r>
              <a:t>Хидешели Леван Иванович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959600"/>
            <a:ext cx="4191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A97A8"/>
                </a:solidFill>
              </a:defRPr>
            </a:pPr>
            <a:r>
              <a:t>140014, МО, г. Люберцы, ул. Электрификации, д. 3, стр. 3, оф.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7429500"/>
            <a:ext cx="419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AF37"/>
                </a:solidFill>
                <a:latin typeface="Courier New"/>
              </a:defRPr>
            </a:pPr>
            <a:r>
              <a:t>+7 499 148-63-83</a:t>
            </a:r>
          </a:p>
          <a:p>
            <a:pPr>
              <a:defRPr sz="1100">
                <a:solidFill>
                  <a:srgbClr val="D4AF37"/>
                </a:solidFill>
                <a:latin typeface="Courier New"/>
              </a:defRPr>
            </a:pPr>
            <a:r>
              <a:t>info@ooomit.com</a:t>
            </a:r>
          </a:p>
          <a:p>
            <a:pPr>
              <a:defRPr sz="1100">
                <a:solidFill>
                  <a:srgbClr val="D4AF37"/>
                </a:solidFill>
                <a:latin typeface="Courier New"/>
              </a:defRPr>
            </a:pPr>
            <a:r>
              <a:t>ooomit.com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8318500"/>
            <a:ext cx="419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ИНН 5001107429</a:t>
            </a:r>
          </a:p>
          <a:p>
            <a:pPr>
              <a:defRPr sz="900">
                <a:solidFill>
                  <a:srgbClr val="5A6878"/>
                </a:solidFill>
                <a:latin typeface="Courier New"/>
              </a:defRPr>
            </a:pPr>
            <a:r>
              <a:t>ОГРН 1165001050785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6000" y="5270500"/>
            <a:ext cx="14224000" cy="0"/>
          </a:xfrm>
          <a:prstGeom prst="line">
            <a:avLst/>
          </a:prstGeom>
          <a:ln w="12700">
            <a:solidFill>
              <a:srgbClr val="1F3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6000" y="8572500"/>
            <a:ext cx="14224000" cy="0"/>
          </a:xfrm>
          <a:prstGeom prst="line">
            <a:avLst/>
          </a:prstGeom>
          <a:ln w="12700">
            <a:solidFill>
              <a:srgbClr val="1F3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60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#ПолныйЦиклСтроительства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15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#МостыТоннелиМетро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70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#КосмическийМасштаб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25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#СобственныйПаркCasagrande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80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#МонолитВВоде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935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#ОдинДоговорВместоПяти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89000" y="8699500"/>
            <a:ext cx="228600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2D3EE"/>
                </a:solidFill>
                <a:latin typeface="Courier New"/>
              </a:defRPr>
            </a:pPr>
            <a:r>
              <a:t>#МоскваиМО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6000" y="381000"/>
            <a:ext cx="14224000" cy="0"/>
          </a:xfrm>
          <a:prstGeom prst="line">
            <a:avLst/>
          </a:prstGeom>
          <a:ln w="6350">
            <a:solidFill>
              <a:srgbClr val="1F31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16000" y="0"/>
            <a:ext cx="14224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6878"/>
                </a:solidFill>
                <a:latin typeface="Courier New"/>
              </a:defRPr>
            </a:pPr>
            <a:r>
              <a:t>© UNIT GROUP, 2026 · Все права защищены. Информация о проектах НКЦ, Московского метрополитена и трассы «ЮЛА» приведена по открытым источникам. Группа выполнила комплекс работ на указанных объектах; генпроектировщиком и генподрядчиком отдельных проектов могут выступать иные организации. ООО «АММ-СТРОЙ» зарегистрировано 04.05.2026, операционная деятельность ведётся с использованием команды и портфеля AIVA СТРОЙ.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